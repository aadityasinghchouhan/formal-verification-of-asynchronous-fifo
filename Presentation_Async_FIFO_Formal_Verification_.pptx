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7" r:id="rId9"/>
    <p:sldId id="271" r:id="rId10"/>
    <p:sldId id="270" r:id="rId11"/>
    <p:sldId id="272" r:id="rId12"/>
    <p:sldId id="273" r:id="rId13"/>
    <p:sldId id="274" r:id="rId14"/>
    <p:sldId id="275" r:id="rId15"/>
    <p:sldId id="262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7:03.8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7:05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6:50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902 213 24575,'-7'1'0,"0"0"0,-1 1 0,1 0 0,0 0 0,0 0 0,0 1 0,-12 7 0,-3 0 0,-26 11 0,1 2 0,1 1 0,1 3 0,1 2 0,2 2 0,-76 71 0,80-64 0,18-19 0,1 0 0,-25 33 0,-53 64 0,66-83 0,-45 64 0,70-89 0,-1 0 0,0 0 0,-15 13 0,18-17 0,-1 0 0,1-1 0,0 1 0,0 1 0,0-1 0,1 0 0,-1 1 0,1 0 0,0 0 0,1 0 0,-1 0 0,1 0 0,0 1 0,0-1 0,-2 11 0,4-8 0,-1-1 0,1 1 0,1-1 0,-1 1 0,1-1 0,0 0 0,1 1 0,0-1 0,0 0 0,0 0 0,1 0 0,0 0 0,1 0 0,-1-1 0,1 1 0,1-1 0,-1 0 0,1 0 0,7 7 0,-4-6 0,1 0 0,-1 0 0,1-1 0,0 0 0,1 0 0,0-1 0,0 0 0,0-1 0,0 0 0,0 0 0,1-1 0,18 2 0,-7-3 0,-1 0 0,0-2 0,1 0 0,-1-2 0,35-6 0,-11-3 0,68-26 0,83-45 0,-177 73 0,0-1 0,22-16 0,-33 20 0,-1 0 0,0 0 0,-1-1 0,1 0 0,-2 0 0,1-1 0,8-13 0,31-72 0,8-13 0,-43 88 0,-1-1 0,-1 0 0,0-1 0,-2 0 0,0 0 0,-1 0 0,-2-1 0,0 0 0,-1 1 0,-1-1 0,0 0 0,-2 0 0,-1 0 0,-6-30 0,1 6 0,6 30 0,-1 1 0,0-1 0,-1 0 0,-1 1 0,-1-1 0,0 1 0,0 0 0,-2 1 0,-7-15 0,-17-19 0,26 37 0,0 1 0,0 1 0,-1-1 0,0 1 0,-1 0 0,0 0 0,0 0 0,-1 1 0,0 0 0,0 1 0,-15-9 0,-15-4 0,-1 1 0,-1 2 0,-63-16 0,94 31-59,1 0 0,0 0-1,-1 1 1,1 0-1,0 0 1,-1 1 0,1 0-1,0 1 1,0 0 0,0 0-1,0 1 1,0-1 0,0 2-1,1-1 1,-1 1-1,1 1 1,0-1 0,0 1-1,1 0 1,-1 1 0,1-1-1,-10 13 1,-2 4-6767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6:50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902 213 24575,'-7'1'0,"0"0"0,-1 1 0,1 0 0,0 0 0,0 0 0,0 1 0,-12 7 0,-3 0 0,-26 11 0,1 2 0,1 1 0,1 3 0,1 2 0,2 2 0,-76 71 0,80-64 0,18-19 0,1 0 0,-25 33 0,-53 64 0,66-83 0,-45 64 0,70-89 0,-1 0 0,0 0 0,-15 13 0,18-17 0,-1 0 0,1-1 0,0 1 0,0 1 0,0-1 0,1 0 0,-1 1 0,1 0 0,0 0 0,1 0 0,-1 0 0,1 0 0,0 1 0,0-1 0,-2 11 0,4-8 0,-1-1 0,1 1 0,1-1 0,-1 1 0,1-1 0,0 0 0,1 1 0,0-1 0,0 0 0,0 0 0,1 0 0,0 0 0,1 0 0,-1-1 0,1 1 0,1-1 0,-1 0 0,1 0 0,7 7 0,-4-6 0,1 0 0,-1 0 0,1-1 0,0 0 0,1 0 0,0-1 0,0 0 0,0-1 0,0 0 0,0 0 0,1-1 0,18 2 0,-7-3 0,-1 0 0,0-2 0,1 0 0,-1-2 0,35-6 0,-11-3 0,68-26 0,83-45 0,-177 73 0,0-1 0,22-16 0,-33 20 0,-1 0 0,0 0 0,-1-1 0,1 0 0,-2 0 0,1-1 0,8-13 0,31-72 0,8-13 0,-43 88 0,-1-1 0,-1 0 0,0-1 0,-2 0 0,0 0 0,-1 0 0,-2-1 0,0 0 0,-1 1 0,-1-1 0,0 0 0,-2 0 0,-1 0 0,-6-30 0,1 6 0,6 30 0,-1 1 0,0-1 0,-1 0 0,-1 1 0,-1-1 0,0 1 0,0 0 0,-2 1 0,-7-15 0,-17-19 0,26 37 0,0 1 0,0 1 0,-1-1 0,0 1 0,-1 0 0,0 0 0,0 0 0,-1 1 0,0 0 0,0 1 0,-15-9 0,-15-4 0,-1 1 0,-1 2 0,-63-16 0,94 31-59,1 0 0,0 0-1,-1 1 1,1 0-1,0 0 1,-1 1 0,1 0-1,0 1 1,0 0 0,0 0-1,0 1 1,0-1 0,0 2-1,1-1 1,-1 1-1,1 1 1,0-1 0,0 1-1,1 0 1,-1 1 0,1-1-1,-10 13 1,-2 4-6767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8:30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222 194 24575,'-1'6'0,"0"0"0,-1 0 0,0 0 0,0 0 0,0 0 0,0-1 0,-1 1 0,0-1 0,0 1 0,-6 6 0,-9 19 0,-19 48 0,4 2 0,-25 97 0,44-124 0,3 1 0,2 0 0,3 1 0,0 80 0,6-67 0,5 79 0,-5-144 0,1 1 0,0-1 0,0 1 0,1-1 0,-1 1 0,1-1 0,0 0 0,0 0 0,1 0 0,-1 0 0,1 0 0,0 0 0,0-1 0,0 1 0,0-1 0,0 0 0,1 0 0,0 0 0,0-1 0,0 1 0,6 2 0,-1 0 0,2-1 0,-1 0 0,0-1 0,1 0 0,0 0 0,-1-1 0,1-1 0,11 1 0,254-6 0,-238 1 0,0-2 0,-1-2 0,0-2 0,-1-1 0,46-19 0,-59 19 0,-1 2 0,1 1 0,1 0 0,-1 2 0,1 0 0,0 2 0,0 1 0,37 1 0,-40 2 0,-1 2 0,1 1 0,-1 0 0,36 13 0,-8-3 0,-40-12 0,0 0 0,0-1 0,0 0 0,0 0 0,0-1 0,1 0 0,-1-1 0,0 1 0,0-2 0,0 1 0,0-1 0,0 0 0,0-1 0,0 0 0,-1 0 0,1-1 0,-1 0 0,0 0 0,0-1 0,0 1 0,10-12 0,9-10 0,-1-1 0,-2-1 0,0-1 0,35-62 0,-46 71 0,5-11 0,-1-2 0,22-64 0,4-10 0,-36 96 0,-1-2 0,0 1 0,-1 0 0,0-1 0,-1 0 0,0 0 0,-1 0 0,-1 0 0,0 0 0,0 0 0,-2-1 0,0 1 0,0 0 0,-1 0 0,0 0 0,-2 0 0,1 1 0,-1-1 0,-8-15 0,1 6 0,-2-1 0,0 2 0,-1 0 0,-2 1 0,0 0 0,-1 1 0,0 1 0,-27-21 0,16 17 0,2 1 0,0 1 0,-1 1 0,-1 2 0,-47-22 0,63 34 0,-163-59 0,149 57 0,0 0 0,-1 2 0,0 1 0,-50 0 0,-1 3 0,-87 5 0,140 0 0,1 1 0,-1 1 0,-41 17 0,13-4 0,42-17 0,0 2 0,1-1 0,-1 2 0,1-1 0,0 1 0,1 1 0,-1 0 0,1 0 0,0 1 0,1 0 0,0 0 0,-11 13 0,-19 24 0,23-27 0,0 0 0,2 0 0,0 1 0,0 1 0,-17 37 0,21-31-1365,1-1-5461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7:16:50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902 213 24575,'-7'1'0,"0"0"0,-1 1 0,1 0 0,0 0 0,0 0 0,0 1 0,-12 7 0,-3 0 0,-26 11 0,1 2 0,1 1 0,1 3 0,1 2 0,2 2 0,-76 71 0,80-64 0,18-19 0,1 0 0,-25 33 0,-53 64 0,66-83 0,-45 64 0,70-89 0,-1 0 0,0 0 0,-15 13 0,18-17 0,-1 0 0,1-1 0,0 1 0,0 1 0,0-1 0,1 0 0,-1 1 0,1 0 0,0 0 0,1 0 0,-1 0 0,1 0 0,0 1 0,0-1 0,-2 11 0,4-8 0,-1-1 0,1 1 0,1-1 0,-1 1 0,1-1 0,0 0 0,1 1 0,0-1 0,0 0 0,0 0 0,1 0 0,0 0 0,1 0 0,-1-1 0,1 1 0,1-1 0,-1 0 0,1 0 0,7 7 0,-4-6 0,1 0 0,-1 0 0,1-1 0,0 0 0,1 0 0,0-1 0,0 0 0,0-1 0,0 0 0,0 0 0,1-1 0,18 2 0,-7-3 0,-1 0 0,0-2 0,1 0 0,-1-2 0,35-6 0,-11-3 0,68-26 0,83-45 0,-177 73 0,0-1 0,22-16 0,-33 20 0,-1 0 0,0 0 0,-1-1 0,1 0 0,-2 0 0,1-1 0,8-13 0,31-72 0,8-13 0,-43 88 0,-1-1 0,-1 0 0,0-1 0,-2 0 0,0 0 0,-1 0 0,-2-1 0,0 0 0,-1 1 0,-1-1 0,0 0 0,-2 0 0,-1 0 0,-6-30 0,1 6 0,6 30 0,-1 1 0,0-1 0,-1 0 0,-1 1 0,-1-1 0,0 1 0,0 0 0,-2 1 0,-7-15 0,-17-19 0,26 37 0,0 1 0,0 1 0,-1-1 0,0 1 0,-1 0 0,0 0 0,0 0 0,-1 1 0,0 0 0,0 1 0,-15-9 0,-15-4 0,-1 1 0,-1 2 0,-63-16 0,94 31-59,1 0 0,0 0-1,-1 1 1,1 0-1,0 0 1,-1 1 0,1 0-1,0 1 1,0 0 0,0 0-1,0 1 1,0-1 0,0 2-1,1-1 1,-1 1-1,1 1 1,0-1 0,0 1-1,1 0 1,-1 1 0,1-1-1,-10 13 1,-2 4-6767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12/06/2025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adityac@pdx.edu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70566"/>
            <a:ext cx="7772400" cy="1470025"/>
          </a:xfrm>
        </p:spPr>
        <p:txBody>
          <a:bodyPr/>
          <a:lstStyle/>
          <a:p>
            <a:r>
              <a:rPr dirty="0"/>
              <a:t>Formal Verification of Asynchronous FIFO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4353" y="4121524"/>
            <a:ext cx="6400800" cy="17526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ECE-560: Assertion-Based Verification</a:t>
            </a:r>
          </a:p>
          <a:p>
            <a:r>
              <a:rPr dirty="0"/>
              <a:t>Instructor: Venkatesh Patil</a:t>
            </a:r>
          </a:p>
          <a:p>
            <a:r>
              <a:rPr lang="en-IN" dirty="0" err="1"/>
              <a:t>Aadityasingh</a:t>
            </a:r>
            <a:r>
              <a:rPr lang="en-IN" dirty="0"/>
              <a:t> Chouhan (</a:t>
            </a:r>
            <a:r>
              <a:rPr lang="en-IN" dirty="0">
                <a:hlinkClick r:id="rId3"/>
              </a:rPr>
              <a:t>aadityac@pdx.edu</a:t>
            </a:r>
            <a:r>
              <a:rPr lang="en-IN" dirty="0"/>
              <a:t>)</a:t>
            </a:r>
          </a:p>
          <a:p>
            <a:r>
              <a:rPr lang="en-IN" dirty="0"/>
              <a:t>Manank Bhavsar(mbhavsar@pdx.edu)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Asynchronous FIFOs are widely used in SoCs to safely transfer data across unrelated clock domains, making their correctness critical for silicon reliability.</a:t>
            </a:r>
          </a:p>
          <a:p>
            <a:r>
              <a:rPr sz="2400" dirty="0"/>
              <a:t>Project focuses on verifying a dual-clock Asynchronous FIFO using SVA and VC Formal</a:t>
            </a:r>
            <a:r>
              <a:rPr lang="en-IN" sz="2400" dirty="0"/>
              <a:t>, as traditional simulation struggles to exhaustively test all the possible clock phase difference. </a:t>
            </a:r>
            <a:endParaRPr sz="2400" dirty="0"/>
          </a:p>
          <a:p>
            <a:r>
              <a:rPr sz="2400" dirty="0"/>
              <a:t>Design includes Gray-coded pointers, two-flop synchronizers</a:t>
            </a:r>
            <a:r>
              <a:rPr lang="en-IN" sz="2400" dirty="0"/>
              <a:t>.</a:t>
            </a:r>
            <a:endParaRPr sz="2400" dirty="0"/>
          </a:p>
          <a:p>
            <a:r>
              <a:rPr lang="en-IN" sz="2400" dirty="0"/>
              <a:t>Assertion based verification enables checking deep corner cases that can rarely appear in random or directed simulation. </a:t>
            </a:r>
          </a:p>
          <a:p>
            <a:r>
              <a:rPr sz="2400" dirty="0"/>
              <a:t>Formal </a:t>
            </a:r>
            <a:r>
              <a:rPr lang="en-IN" sz="2400" dirty="0"/>
              <a:t>verification </a:t>
            </a:r>
            <a:r>
              <a:rPr sz="2400" dirty="0"/>
              <a:t>explores all timing permutations between write/read clocks.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FIFO supports parameterized depth and width, enabling </a:t>
            </a:r>
            <a:r>
              <a:rPr lang="en-IN" sz="2000" dirty="0" err="1"/>
              <a:t>resue</a:t>
            </a:r>
            <a:r>
              <a:rPr lang="en-IN" sz="2000" dirty="0"/>
              <a:t> across multiple subsystems within a digital design. </a:t>
            </a:r>
          </a:p>
          <a:p>
            <a:r>
              <a:rPr sz="2000" dirty="0"/>
              <a:t>Asynchronous FIFO enables data transfer between unrelated clock domains.</a:t>
            </a:r>
          </a:p>
          <a:p>
            <a:r>
              <a:rPr sz="2000" dirty="0"/>
              <a:t>Formal verification ensures correctness under all inter-clock alignments.</a:t>
            </a:r>
            <a:endParaRPr lang="en-IN" sz="2000" dirty="0"/>
          </a:p>
          <a:p>
            <a:r>
              <a:rPr lang="en-IN" sz="2000" dirty="0"/>
              <a:t>Full/empty detection logic is based on pointer comparison in gray code, which eliminates multi-bit metastability during synchronization. </a:t>
            </a:r>
          </a:p>
          <a:p>
            <a:r>
              <a:rPr lang="en-IN" sz="2000" dirty="0"/>
              <a:t>FIFO integrates two independent synchronizer module- sync_w2r and sync_r2w to safely communicate pointer updates between </a:t>
            </a:r>
            <a:r>
              <a:rPr lang="en-IN" sz="2000" dirty="0" err="1"/>
              <a:t>domanins</a:t>
            </a:r>
            <a:r>
              <a:rPr lang="en-IN" sz="2000" dirty="0"/>
              <a:t>. </a:t>
            </a:r>
          </a:p>
          <a:p>
            <a:r>
              <a:rPr lang="en-IN" sz="2000" dirty="0"/>
              <a:t>Failure mode includes incorrect flag generation, pointer divergence, wrap-around errors, and unsafe read/write operations. </a:t>
            </a:r>
          </a:p>
          <a:p>
            <a:r>
              <a:rPr lang="en-IN" sz="2000" dirty="0"/>
              <a:t>The project formally verifies FIFO safety properties across all </a:t>
            </a:r>
            <a:r>
              <a:rPr lang="en-IN" sz="2000" dirty="0" err="1"/>
              <a:t>possile</a:t>
            </a:r>
            <a:r>
              <a:rPr lang="en-IN" sz="2000" dirty="0"/>
              <a:t> sequences of read/write operations. 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/>
              <a:t>Write Pointer Logic (wptr_full.sv)</a:t>
            </a:r>
            <a:r>
              <a:rPr lang="en-IN" sz="1600" dirty="0"/>
              <a:t>, </a:t>
            </a:r>
            <a:r>
              <a:rPr sz="1600" dirty="0"/>
              <a:t>Read Pointer Logic (rptr_empty.sv)</a:t>
            </a:r>
            <a:r>
              <a:rPr lang="en-IN" sz="1600" dirty="0"/>
              <a:t>, </a:t>
            </a:r>
            <a:r>
              <a:rPr sz="1600" dirty="0"/>
              <a:t>FIFO Memory</a:t>
            </a:r>
            <a:r>
              <a:rPr lang="en-IN" sz="1600" dirty="0"/>
              <a:t> </a:t>
            </a:r>
            <a:r>
              <a:rPr sz="1600" dirty="0"/>
              <a:t>(fifomem.sv)</a:t>
            </a:r>
            <a:r>
              <a:rPr lang="en-IN" sz="1600" dirty="0"/>
              <a:t>, </a:t>
            </a:r>
            <a:r>
              <a:rPr sz="1600" dirty="0"/>
              <a:t>Pointer Synchronizers (sync_r2w.sv, sync_w2r.sv)</a:t>
            </a:r>
            <a:r>
              <a:rPr lang="en-IN" sz="1600" dirty="0"/>
              <a:t>, </a:t>
            </a:r>
            <a:r>
              <a:rPr sz="1600" dirty="0"/>
              <a:t>Top-level DUT (asynch_fifo_dut.sv)</a:t>
            </a:r>
            <a:endParaRPr lang="en-IN" sz="1600" dirty="0"/>
          </a:p>
          <a:p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6AC72-F03F-DD5A-81D1-8A6FF44A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94" y="2559493"/>
            <a:ext cx="8050306" cy="3566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EFE0-0023-9FC0-9909-14289B07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Behaviour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90EDE-DA5C-3F59-22B3-E45C74D73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FIFO must guarantee safe data transfer across asynchronous write and read clock domain without corruptions. </a:t>
            </a:r>
          </a:p>
          <a:p>
            <a:r>
              <a:rPr lang="en-IN" sz="2400" dirty="0"/>
              <a:t>Write operations must only advance the write pointer when </a:t>
            </a:r>
            <a:r>
              <a:rPr lang="en-IN" sz="2400" dirty="0" err="1"/>
              <a:t>winc</a:t>
            </a:r>
            <a:r>
              <a:rPr lang="en-IN" sz="2400" dirty="0"/>
              <a:t> is asserted and the FIFO is not full. </a:t>
            </a:r>
          </a:p>
          <a:p>
            <a:r>
              <a:rPr lang="en-IN" sz="2400" dirty="0"/>
              <a:t>Read operations must only advance the write pointer when </a:t>
            </a:r>
            <a:r>
              <a:rPr lang="en-IN" sz="2400" dirty="0" err="1"/>
              <a:t>rinc</a:t>
            </a:r>
            <a:r>
              <a:rPr lang="en-IN" sz="2400" dirty="0"/>
              <a:t> is asserted and the FIFO is not empty. </a:t>
            </a:r>
          </a:p>
          <a:p>
            <a:r>
              <a:rPr lang="en-IN" sz="2400" dirty="0"/>
              <a:t>The FIFO must maintain data ordering- first written data must be first data must be the first read data.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28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1EC5-535C-13BC-4EC3-8B4FE33A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Pointer &amp; Flag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5112-17C6-1B86-EC70-CF7AFD916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W</a:t>
            </a:r>
            <a:r>
              <a:rPr lang="en-US" sz="2400" dirty="0"/>
              <a:t>rite and read pointers must increment strictly according to Gray-code rules to avoid multi-bit metastability.</a:t>
            </a:r>
          </a:p>
          <a:p>
            <a:r>
              <a:rPr lang="en-US" sz="2400" dirty="0"/>
              <a:t>Full condition must assert when the write pointer is exactly one full cycle ahead of the synchronized read pointer.</a:t>
            </a:r>
          </a:p>
          <a:p>
            <a:r>
              <a:rPr lang="en-US" sz="2400" dirty="0"/>
              <a:t>Empty condition must assert when the read pointer equals the synchronized write pointer.</a:t>
            </a:r>
          </a:p>
          <a:p>
            <a:r>
              <a:rPr lang="en-US" sz="2400" dirty="0"/>
              <a:t>Synchronizers (sync_w2r, sync_r2w) must correctly propagate pointer updates across domains with a stable, two-flop delay. </a:t>
            </a:r>
          </a:p>
          <a:p>
            <a:r>
              <a:rPr lang="en-US" sz="2400" dirty="0"/>
              <a:t>Pointer wrap-around must occur correctly without skipping addresses or misalignments. </a:t>
            </a:r>
          </a:p>
        </p:txBody>
      </p:sp>
    </p:spTree>
    <p:extLst>
      <p:ext uri="{BB962C8B-B14F-4D97-AF65-F5344CB8AC3E}">
        <p14:creationId xmlns:p14="http://schemas.microsoft.com/office/powerpoint/2010/main" val="116843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Specifications and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 reads when FIFO is empty.</a:t>
            </a:r>
          </a:p>
          <a:p>
            <a:r>
              <a:t>No writes when FIFO is full.</a:t>
            </a:r>
          </a:p>
          <a:p>
            <a:r>
              <a:t>Pointers follow Gray-code rules.</a:t>
            </a:r>
          </a:p>
          <a:p>
            <a:r>
              <a:t>Flags accurately reflect pointer positions.</a:t>
            </a:r>
          </a:p>
          <a:p>
            <a:r>
              <a:t>Synchronization must be stable and monotonic.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Independent, clean clocks (</a:t>
            </a:r>
            <a:r>
              <a:rPr sz="2400" dirty="0" err="1"/>
              <a:t>wclk</a:t>
            </a:r>
            <a:r>
              <a:rPr sz="2400" dirty="0"/>
              <a:t>, </a:t>
            </a:r>
            <a:r>
              <a:rPr sz="2400" dirty="0" err="1"/>
              <a:t>rclk</a:t>
            </a:r>
            <a:r>
              <a:rPr sz="2400" dirty="0"/>
              <a:t>).</a:t>
            </a:r>
          </a:p>
          <a:p>
            <a:r>
              <a:rPr sz="2400" dirty="0"/>
              <a:t>Proper reset behavior</a:t>
            </a:r>
            <a:r>
              <a:rPr lang="en-IN" sz="2400" dirty="0"/>
              <a:t> - </a:t>
            </a:r>
            <a:r>
              <a:rPr sz="2400" dirty="0"/>
              <a:t>stable data during writes.</a:t>
            </a:r>
          </a:p>
          <a:p>
            <a:r>
              <a:rPr sz="2400" dirty="0"/>
              <a:t>No illegal pointer driving; realistic CDC behavior.</a:t>
            </a:r>
            <a:endParaRPr lang="en-IN" sz="2400" dirty="0"/>
          </a:p>
          <a:p>
            <a:r>
              <a:rPr lang="en-IN" sz="2400" dirty="0"/>
              <a:t>W</a:t>
            </a:r>
            <a:r>
              <a:rPr lang="en-US" sz="2400" dirty="0"/>
              <a:t>rite enable (</a:t>
            </a:r>
            <a:r>
              <a:rPr lang="en-US" sz="2400" dirty="0" err="1"/>
              <a:t>winc</a:t>
            </a:r>
            <a:r>
              <a:rPr lang="en-US" sz="2400" dirty="0"/>
              <a:t>) and read enable (</a:t>
            </a:r>
            <a:r>
              <a:rPr lang="en-US" sz="2400" dirty="0" err="1"/>
              <a:t>rinc</a:t>
            </a:r>
            <a:r>
              <a:rPr lang="en-US" sz="2400" dirty="0"/>
              <a:t>) are single-cycle pulses with no glitches.</a:t>
            </a:r>
          </a:p>
          <a:p>
            <a:r>
              <a:rPr lang="en-US" sz="2400" dirty="0"/>
              <a:t>The input </a:t>
            </a:r>
            <a:r>
              <a:rPr lang="en-US" sz="2400" dirty="0" err="1"/>
              <a:t>wdata</a:t>
            </a:r>
            <a:r>
              <a:rPr lang="en-US" sz="2400" dirty="0"/>
              <a:t> remains stable throughout the entire write cycle until captured.</a:t>
            </a:r>
          </a:p>
          <a:p>
            <a:r>
              <a:rPr lang="en-US" sz="2400" dirty="0"/>
              <a:t>Reet (</a:t>
            </a:r>
            <a:r>
              <a:rPr lang="en-US" sz="2400" dirty="0" err="1"/>
              <a:t>wrst_n</a:t>
            </a:r>
            <a:r>
              <a:rPr lang="en-US" sz="2400" dirty="0"/>
              <a:t>, </a:t>
            </a:r>
            <a:r>
              <a:rPr lang="en-US" sz="2400" dirty="0" err="1"/>
              <a:t>rrst_n</a:t>
            </a:r>
            <a:r>
              <a:rPr lang="en-US" sz="2400" dirty="0"/>
              <a:t>) must not </a:t>
            </a:r>
            <a:r>
              <a:rPr lang="en-US" sz="2400" dirty="0" err="1"/>
              <a:t>deassert</a:t>
            </a:r>
            <a:r>
              <a:rPr lang="en-US" sz="2400" dirty="0"/>
              <a:t> simultaneously while clocks are unstable. </a:t>
            </a:r>
          </a:p>
          <a:p>
            <a:r>
              <a:rPr lang="en-US" sz="2400" dirty="0"/>
              <a:t>No simultaneous reset and data operation in same cycle. </a:t>
            </a:r>
            <a:endParaRPr sz="2800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E6F2-5894-3645-5879-8250E33F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5522D-085D-6FD7-1C19-30C9CEED5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dirty="0"/>
              <a:t>Cover the point when </a:t>
            </a:r>
            <a:r>
              <a:rPr lang="en-IN" sz="2800" dirty="0" err="1"/>
              <a:t>rempty</a:t>
            </a:r>
            <a:r>
              <a:rPr lang="en-IN" sz="2800" dirty="0"/>
              <a:t> </a:t>
            </a:r>
            <a:r>
              <a:rPr lang="en-IN" sz="2800" dirty="0" err="1"/>
              <a:t>deasserts</a:t>
            </a:r>
            <a:r>
              <a:rPr lang="en-IN" sz="2800" dirty="0"/>
              <a:t> for the first time after reset. </a:t>
            </a:r>
          </a:p>
          <a:p>
            <a:r>
              <a:rPr lang="en-IN" sz="2800" dirty="0"/>
              <a:t>Cover when </a:t>
            </a:r>
            <a:r>
              <a:rPr lang="en-IN" sz="2800" dirty="0" err="1"/>
              <a:t>wfull</a:t>
            </a:r>
            <a:r>
              <a:rPr lang="en-IN" sz="2800" dirty="0"/>
              <a:t> </a:t>
            </a:r>
            <a:r>
              <a:rPr lang="en-IN" sz="2800" dirty="0" err="1"/>
              <a:t>transistions</a:t>
            </a:r>
            <a:r>
              <a:rPr lang="en-IN" sz="2800" dirty="0"/>
              <a:t> 1 -&gt; 0 after reads free space.</a:t>
            </a:r>
          </a:p>
          <a:p>
            <a:r>
              <a:rPr lang="en-IN" sz="2800" dirty="0"/>
              <a:t>FIFO correctly enters empty state immediately after reset. </a:t>
            </a:r>
          </a:p>
          <a:p>
            <a:r>
              <a:rPr lang="en-IN" sz="2800" dirty="0"/>
              <a:t>After reset </a:t>
            </a:r>
            <a:r>
              <a:rPr lang="en-IN" sz="2800" dirty="0" err="1"/>
              <a:t>deasserts</a:t>
            </a:r>
            <a:r>
              <a:rPr lang="en-IN" sz="2800" dirty="0"/>
              <a:t>, pointer and flag logic stabilize within expected cycle. </a:t>
            </a:r>
          </a:p>
          <a:p>
            <a:r>
              <a:rPr lang="en-IN" sz="2800" dirty="0"/>
              <a:t>Cover full FIFO followed immediately by </a:t>
            </a:r>
            <a:r>
              <a:rPr lang="en-IN" sz="2800" dirty="0" err="1"/>
              <a:t>emoty</a:t>
            </a:r>
            <a:r>
              <a:rPr lang="en-IN" sz="2800" dirty="0"/>
              <a:t> FIFO after continuous work.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11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3B7A-2A4D-CEAB-3110-26D645C0D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Assertions: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2D87-6B42-CE2B-0FF1-8EBBE49B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No write when FIFO is full, write pointer must increment only when write is valid. </a:t>
            </a:r>
          </a:p>
          <a:p>
            <a:r>
              <a:rPr lang="en-US" sz="2400" dirty="0"/>
              <a:t>No read when FIFO is empty, read pointer must increment only when read is valid. </a:t>
            </a:r>
          </a:p>
          <a:p>
            <a:r>
              <a:rPr lang="en-US" sz="2400" dirty="0"/>
              <a:t>Gray-code pointer must match binary version.</a:t>
            </a:r>
          </a:p>
          <a:p>
            <a:r>
              <a:rPr lang="en-US" sz="2400" dirty="0"/>
              <a:t>Synchronizers output must settle within two receiving clock cycles after pointer changes. </a:t>
            </a:r>
          </a:p>
          <a:p>
            <a:r>
              <a:rPr lang="en-US" sz="2400" dirty="0"/>
              <a:t>Correct full/empty flag logic across domains.</a:t>
            </a:r>
          </a:p>
          <a:p>
            <a:r>
              <a:rPr lang="en-US" sz="2400" dirty="0"/>
              <a:t>Data read from FIFO must match data previously written to that location. </a:t>
            </a:r>
          </a:p>
          <a:p>
            <a:r>
              <a:rPr lang="en-US" sz="2400" dirty="0"/>
              <a:t>If system is not full, eventually a write must be possible.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08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01F4-D330-7A71-6A6B-C2EFDF4D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Bug Injection &amp; Debugging Process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8C8CEE21-D6B6-7062-6C1E-6268FAA32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6639"/>
          <a:stretch>
            <a:fillRect/>
          </a:stretch>
        </p:blipFill>
        <p:spPr>
          <a:xfrm>
            <a:off x="457200" y="2523786"/>
            <a:ext cx="8229600" cy="20319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29566F4-E670-AE6C-DE51-B218733C2A1F}"/>
                  </a:ext>
                </a:extLst>
              </p14:cNvPr>
              <p14:cNvContentPartPr/>
              <p14:nvPr/>
            </p14:nvContentPartPr>
            <p14:xfrm>
              <a:off x="2241530" y="3539388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29566F4-E670-AE6C-DE51-B218733C2A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5410" y="35332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7847914-9BAE-F4CB-6747-1B39E206EDB5}"/>
                  </a:ext>
                </a:extLst>
              </p14:cNvPr>
              <p14:cNvContentPartPr/>
              <p14:nvPr/>
            </p14:nvContentPartPr>
            <p14:xfrm>
              <a:off x="4099850" y="4070388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7847914-9BAE-F4CB-6747-1B39E206ED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3730" y="406426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23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1A74-8E72-BA89-6A26-AA29CF69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Bug Injection &amp; Debugging Process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272FB-4FBF-2B78-05BA-7C5EB33D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2158"/>
            <a:ext cx="8300036" cy="13079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4FE482-2634-AF62-F8FF-4F3A4E55E3DA}"/>
                  </a:ext>
                </a:extLst>
              </p14:cNvPr>
              <p14:cNvContentPartPr/>
              <p14:nvPr/>
            </p14:nvContentPartPr>
            <p14:xfrm>
              <a:off x="4689530" y="2145468"/>
              <a:ext cx="364680" cy="44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4FE482-2634-AF62-F8FF-4F3A4E55E3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3410" y="2139348"/>
                <a:ext cx="376920" cy="4539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453108C-A148-7D7C-372D-5C0837AE96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441"/>
          <a:stretch>
            <a:fillRect/>
          </a:stretch>
        </p:blipFill>
        <p:spPr>
          <a:xfrm>
            <a:off x="457199" y="3764440"/>
            <a:ext cx="8299969" cy="182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3601C-7A9A-38B2-A179-9E622AC1E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53DE-5271-E40C-7D5F-C54F00DF1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Bug Injection &amp; Debugging Process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5F606A-5F69-A89A-FE4A-ADA799522455}"/>
                  </a:ext>
                </a:extLst>
              </p14:cNvPr>
              <p14:cNvContentPartPr/>
              <p14:nvPr/>
            </p14:nvContentPartPr>
            <p14:xfrm>
              <a:off x="4689530" y="2145468"/>
              <a:ext cx="364680" cy="44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5F606A-5F69-A89A-FE4A-ADA7995224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83410" y="2139348"/>
                <a:ext cx="376920" cy="4539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9C3E5A6-B99C-9BFD-1B90-FC7F28B9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11" y="1417637"/>
            <a:ext cx="5927941" cy="24848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E557682-7306-E4CF-6A19-1BB4C25A2520}"/>
                  </a:ext>
                </a:extLst>
              </p14:cNvPr>
              <p14:cNvContentPartPr/>
              <p14:nvPr/>
            </p14:nvContentPartPr>
            <p14:xfrm>
              <a:off x="5632730" y="3037188"/>
              <a:ext cx="592560" cy="47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E557682-7306-E4CF-6A19-1BB4C25A25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26610" y="3031068"/>
                <a:ext cx="604800" cy="4863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45371AC-89D5-8C37-1AB5-C10A2B9ACC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000"/>
          <a:stretch>
            <a:fillRect/>
          </a:stretch>
        </p:blipFill>
        <p:spPr>
          <a:xfrm>
            <a:off x="594851" y="4056381"/>
            <a:ext cx="7914771" cy="184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4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D40A-AFEA-AF35-9D3F-8AC04355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D95F-26EB-BDC4-0D65-4500854E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Bug Injection &amp; Debugging Process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93FF96-BAE3-4ECA-409B-4C7AB2172F07}"/>
                  </a:ext>
                </a:extLst>
              </p14:cNvPr>
              <p14:cNvContentPartPr/>
              <p14:nvPr/>
            </p14:nvContentPartPr>
            <p14:xfrm>
              <a:off x="4689530" y="2145468"/>
              <a:ext cx="364680" cy="44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93FF96-BAE3-4ECA-409B-4C7AB2172F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83410" y="2139348"/>
                <a:ext cx="376920" cy="4539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8C0A518-A403-1DB4-AC14-75C2B784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36" y="1802695"/>
            <a:ext cx="8229600" cy="10665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66B039-CC0A-61E8-B570-B0BE7CF7F9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884"/>
          <a:stretch>
            <a:fillRect/>
          </a:stretch>
        </p:blipFill>
        <p:spPr>
          <a:xfrm>
            <a:off x="473165" y="4046095"/>
            <a:ext cx="8213635" cy="18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64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Tools: Synopsys VC Formal.</a:t>
            </a:r>
          </a:p>
          <a:p>
            <a:r>
              <a:rPr sz="2400" dirty="0"/>
              <a:t>Modes: FPV, AEP, FXP, COV.</a:t>
            </a:r>
          </a:p>
          <a:p>
            <a:r>
              <a:rPr sz="2400" dirty="0"/>
              <a:t>Used assumptions, assertions, and cover properties.</a:t>
            </a:r>
          </a:p>
          <a:p>
            <a:r>
              <a:rPr lang="en-IN" sz="2400" dirty="0"/>
              <a:t>FPV mode was used to prove functional correctness of pointers, flag and handshake across domains. </a:t>
            </a:r>
          </a:p>
          <a:p>
            <a:r>
              <a:rPr lang="en-IN" sz="2400" dirty="0"/>
              <a:t>AEP mode automatically detected potential design hazards, such as unintended X-propagation or unreachable states. </a:t>
            </a:r>
          </a:p>
          <a:p>
            <a:r>
              <a:rPr lang="en-IN" sz="2400" dirty="0"/>
              <a:t>Cover properties were written to check that the solver reaches key scenarios like overflow, underflow. 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659" y="1600200"/>
            <a:ext cx="8346141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r>
              <a:rPr lang="en-IN" sz="2400" dirty="0"/>
              <a:t>Formal verification demonstrated it’s ability to expose subtle CDC issues that simulation might never observe. </a:t>
            </a:r>
          </a:p>
          <a:p>
            <a:r>
              <a:rPr lang="en-IN" sz="2400" dirty="0"/>
              <a:t>The SVA properties enforced strong design </a:t>
            </a:r>
            <a:r>
              <a:rPr lang="en-IN" sz="2400" dirty="0" err="1"/>
              <a:t>gurrantees</a:t>
            </a:r>
            <a:r>
              <a:rPr lang="en-IN" sz="2400" dirty="0"/>
              <a:t>, ensuring FIFO behaves correctly regardless of clock interaction.</a:t>
            </a:r>
          </a:p>
          <a:p>
            <a:r>
              <a:rPr lang="en-IN" sz="2400" dirty="0"/>
              <a:t>The project highlights how assertion-based methods reduce verification efforts whole increasing design confidence. </a:t>
            </a:r>
          </a:p>
          <a:p>
            <a:r>
              <a:rPr lang="en-IN" sz="2400" dirty="0"/>
              <a:t>Formal coverage results confirmed that all major operational scenarios were reached, including pointer synchronization and wrap around. </a:t>
            </a:r>
          </a:p>
          <a:p>
            <a:r>
              <a:rPr lang="en-IN" sz="2400" dirty="0"/>
              <a:t>Overall, the asynchronous FIFO passed all the formal proofs confirming the correctness of it’s architecture. 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Synopsys VC Formal Documentation</a:t>
            </a:r>
          </a:p>
          <a:p>
            <a:r>
              <a:rPr lang="en-IN" dirty="0"/>
              <a:t>SNUG FIFO 1&amp;2. </a:t>
            </a:r>
            <a:endParaRPr dirty="0"/>
          </a:p>
          <a:p>
            <a:r>
              <a:rPr lang="en-IN" dirty="0"/>
              <a:t>ECE 560 course materials. </a:t>
            </a:r>
          </a:p>
          <a:p>
            <a:r>
              <a:rPr lang="en-IN" dirty="0"/>
              <a:t>ChatGPT.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942</Words>
  <Application>Microsoft Office PowerPoint</Application>
  <PresentationFormat>On-screen Show (4:3)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Formal Verification of Asynchronous FIFO</vt:lpstr>
      <vt:lpstr>Introduction</vt:lpstr>
      <vt:lpstr>Project Overview</vt:lpstr>
      <vt:lpstr>Architecture Block Diagram</vt:lpstr>
      <vt:lpstr>Design Behaviour Specifications</vt:lpstr>
      <vt:lpstr>Pointer &amp; Flag Specifications</vt:lpstr>
      <vt:lpstr>Specifications and Assertions</vt:lpstr>
      <vt:lpstr>Assumptions</vt:lpstr>
      <vt:lpstr>Cover Properties</vt:lpstr>
      <vt:lpstr>Assertions:</vt:lpstr>
      <vt:lpstr>Bug Injection &amp; Debugging Process</vt:lpstr>
      <vt:lpstr>Bug Injection &amp; Debugging Process</vt:lpstr>
      <vt:lpstr>Bug Injection &amp; Debugging Process</vt:lpstr>
      <vt:lpstr>Bug Injection &amp; Debugging Process</vt:lpstr>
      <vt:lpstr>Verification Methodology</vt:lpstr>
      <vt:lpstr>Summary &amp; 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Manank Bhavsar</cp:lastModifiedBy>
  <cp:revision>4</cp:revision>
  <dcterms:created xsi:type="dcterms:W3CDTF">2013-01-27T09:14:16Z</dcterms:created>
  <dcterms:modified xsi:type="dcterms:W3CDTF">2025-12-07T07:20:04Z</dcterms:modified>
  <cp:category/>
</cp:coreProperties>
</file>